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171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171B"/>
                </a:solidFill>
                <a:latin typeface="+mn-lt"/>
              </a:rPr>
              <a:t>Exceptions per 100 invoices (sample data)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Exceptions per 100 invoices</c:v>
                </c:pt>
              </c:strCache>
            </c:strRef>
          </c:tx>
          <c:spPr>
            <a:solidFill>
              <a:srgbClr val="1617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17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Wk 1</c:v>
                  </c:pt>
                  <c:pt idx="1">
                    <c:v>Wk 2</c:v>
                  </c:pt>
                  <c:pt idx="2">
                    <c:v>Wk 3</c:v>
                  </c:pt>
                  <c:pt idx="3">
                    <c:v>Wk 4</c:v>
                  </c:pt>
                  <c:pt idx="4">
                    <c:v>Wk 5</c:v>
                  </c:pt>
                  <c:pt idx="5">
                    <c:v>Wk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35</c:v>
                </c:pt>
                <c:pt idx="2">
                  <c:v>27</c:v>
                </c:pt>
                <c:pt idx="3">
                  <c:v>21</c:v>
                </c:pt>
                <c:pt idx="4">
                  <c:v>16</c:v>
                </c:pt>
                <c:pt idx="5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17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D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9525" cap="flat">
              <a:solidFill>
                <a:srgbClr val="E3E1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D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sample. Lathmere is a fictional concept brand made by Sabin Mainali; it is not a real company. Layout 1 Cover: eyebrow, title (2 lines max), subtitle. The lime square is part of the layout, so it cannot be moved by accident.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sample. Lathmere is a fictional concept brand made by Sabin Mainali; it is not a real company. Layout 3 Agenda: numbering is automatic. Add or remove lines and the numbers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sample. Lathmere is a fictional concept brand made by Sabin Mainali; it is not a real company. Layout 2 Section: two-digit number sits inside the brand square.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sample. Lathmere is a fictional concept brand made by Sabin Mainali; it is not a real company. Layout 4 Content and image: right side is a picture placeholder. Insert a picture and it crops to the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sample. Lathmere is a fictional concept brand made by Sabin Mainali; it is not a real company. Layout 7 Title only, used for a workflow. Markers, numbers and labels are native shapes and text, so they stay editable.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sample. Lathmere is a fictional concept brand made by Sabin Mainali; it is not a real company. Layout 5 Comparison: light card for the current state, dark card for the proposed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sample. Lathmere is a fictional concept brand made by Sabin Mainali; it is not a real company. Layout 6 Product screenshot: 16:10 picture frame on the left, caption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sample. Lathmere is a fictional concept brand made by Sabin Mainali; it is not a real company. Layout 8 Chart: chart placeholder plus a commentary card. Numbers on this slide are invented for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sample. Lathmere is a fictional concept brand made by Sabin Mainali; it is not a real company. Layout 9 Table: header row in ink, thin warm-grey rules, note line under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sample. Lathmere is a fictional concept brand made by Sabin Mainali; it is not a real company. Layout 10 Closing: solid lime square echoes the cover outline, so the deck opens and closes on the same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square"/>
          <p:cNvSpPr/>
          <p:nvPr/>
        </p:nvSpPr>
        <p:spPr>
          <a:xfrm>
            <a:off x="8001000" y="1143000"/>
            <a:ext cx="3291840" cy="3291840"/>
          </a:xfrm>
          <a:prstGeom prst="roundRect">
            <a:avLst>
              <a:gd name="adj" fmla="val 22222"/>
            </a:avLst>
          </a:prstGeom>
          <a:ln w="17780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1554480"/>
            <a:ext cx="67665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EYEBROW LABEL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011680"/>
            <a:ext cx="694944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Presentation title</a:t>
            </a:r>
            <a:endParaRPr lang="en-US" sz="48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4114800"/>
            <a:ext cx="6583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A9ABB3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A9ABB3"/>
                </a:solidFill>
              </a:rPr>
              <a:t>Subtitle, presenter or date</a:t>
            </a:r>
            <a:endParaRPr lang="en-US" sz="1800" dirty="0"/>
          </a:p>
        </p:txBody>
      </p:sp>
      <p:sp>
        <p:nvSpPr>
          <p:cNvPr id="6" name="Logo mark"/>
          <p:cNvSpPr/>
          <p:nvPr/>
        </p:nvSpPr>
        <p:spPr>
          <a:xfrm>
            <a:off x="548640" y="6336792"/>
            <a:ext cx="182880" cy="182880"/>
          </a:xfrm>
          <a:prstGeom prst="roundRect">
            <a:avLst>
              <a:gd name="adj" fmla="val 22000"/>
            </a:avLst>
          </a:prstGeom>
          <a:ln w="2286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Wordmark"/>
          <p:cNvSpPr/>
          <p:nvPr/>
        </p:nvSpPr>
        <p:spPr>
          <a:xfrm>
            <a:off x="822960" y="62727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Lathmere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square"/>
          <p:cNvSpPr/>
          <p:nvPr/>
        </p:nvSpPr>
        <p:spPr>
          <a:xfrm>
            <a:off x="548640" y="1371600"/>
            <a:ext cx="1188720" cy="1188720"/>
          </a:xfrm>
          <a:prstGeom prst="roundRect">
            <a:avLst>
              <a:gd name="adj" fmla="val 23077"/>
            </a:avLst>
          </a:prstGeom>
          <a:ln w="10160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1371600"/>
            <a:ext cx="1188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01</a:t>
            </a:r>
            <a:endParaRPr lang="en-US" sz="3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926080"/>
            <a:ext cx="91440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Section title</a:t>
            </a:r>
            <a:endParaRPr lang="en-US" sz="4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A9ABB3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A9ABB3"/>
                </a:solidFill>
              </a:rPr>
              <a:t>One line on what this section answers</a:t>
            </a:r>
            <a:endParaRPr lang="en-US" sz="1800" dirty="0"/>
          </a:p>
        </p:txBody>
      </p:sp>
      <p:sp>
        <p:nvSpPr>
          <p:cNvPr id="6" name="Logo mark"/>
          <p:cNvSpPr/>
          <p:nvPr/>
        </p:nvSpPr>
        <p:spPr>
          <a:xfrm>
            <a:off x="548640" y="6336792"/>
            <a:ext cx="182880" cy="182880"/>
          </a:xfrm>
          <a:prstGeom prst="roundRect">
            <a:avLst>
              <a:gd name="adj" fmla="val 22000"/>
            </a:avLst>
          </a:prstGeom>
          <a:ln w="2286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Wordmark"/>
          <p:cNvSpPr/>
          <p:nvPr/>
        </p:nvSpPr>
        <p:spPr>
          <a:xfrm>
            <a:off x="822960" y="62727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Lathmere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72784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A9AB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gend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 panel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Logo mark"/>
          <p:cNvSpPr/>
          <p:nvPr/>
        </p:nvSpPr>
        <p:spPr>
          <a:xfrm>
            <a:off x="548640" y="548640"/>
            <a:ext cx="329184" cy="329184"/>
          </a:xfrm>
          <a:prstGeom prst="roundRect">
            <a:avLst>
              <a:gd name="adj" fmla="val 22000"/>
            </a:avLst>
          </a:prstGeom>
          <a:ln w="41148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Agenda</a:t>
            </a:r>
            <a:endParaRPr lang="en-US" sz="4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754880" y="1463040"/>
            <a:ext cx="676656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spcAft>
                <a:spcPts val="1800"/>
              </a:spcAft>
              <a:buSzPct val="100000"/>
              <a:buFont typeface="+mj-lt"/>
              <a:buAutoNum type="arabicPeriod" startAt="1"/>
              <a:defRPr lang="en-US" sz="2200" dirty="0">
                <a:solidFill>
                  <a:schemeClr val="tx1"/>
                </a:solidFill>
              </a:defRPr>
            </a:lvl1pPr>
          </a:lstStyle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chemeClr val="tx1"/>
                </a:solidFill>
              </a:rPr>
              <a:t>Agenda item</a:t>
            </a:r>
            <a:endParaRPr lang="en-US" sz="2200" dirty="0"/>
          </a:p>
        </p:txBody>
      </p:sp>
      <p:sp>
        <p:nvSpPr>
          <p:cNvPr id="6" name="Wordmark"/>
          <p:cNvSpPr/>
          <p:nvPr/>
        </p:nvSpPr>
        <p:spPr>
          <a:xfrm>
            <a:off x="548640" y="62727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Lathmere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72784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 and imag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Slide title, one message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600200"/>
            <a:ext cx="603504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spcAft>
                <a:spcPts val="1400"/>
              </a:spcAft>
              <a:buSzPct val="100000"/>
              <a:buChar char="•"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Key point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hasCustomPrompt="1"/>
          </p:nvPr>
        </p:nvSpPr>
        <p:spPr>
          <a:xfrm>
            <a:off x="7178040" y="1463040"/>
            <a:ext cx="4480560" cy="4526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accent6"/>
                </a:solidFill>
              </a:rPr>
              <a:t>Image</a:t>
            </a:r>
            <a:endParaRPr lang="en-US" dirty="0"/>
          </a:p>
        </p:txBody>
      </p:sp>
      <p:sp>
        <p:nvSpPr>
          <p:cNvPr id="5" name="Logo mark"/>
          <p:cNvSpPr/>
          <p:nvPr/>
        </p:nvSpPr>
        <p:spPr>
          <a:xfrm>
            <a:off x="548640" y="6336792"/>
            <a:ext cx="182880" cy="182880"/>
          </a:xfrm>
          <a:prstGeom prst="roundRect">
            <a:avLst>
              <a:gd name="adj" fmla="val 22000"/>
            </a:avLst>
          </a:prstGeom>
          <a:ln w="22860">
            <a:solidFill>
              <a:schemeClr val="tx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Wordmark"/>
          <p:cNvSpPr/>
          <p:nvPr/>
        </p:nvSpPr>
        <p:spPr>
          <a:xfrm>
            <a:off x="822960" y="62727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Lathmere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72784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mpariso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Slide title, one message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554480"/>
            <a:ext cx="5349240" cy="4389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Right card"/>
          <p:cNvSpPr/>
          <p:nvPr/>
        </p:nvSpPr>
        <p:spPr>
          <a:xfrm>
            <a:off x="6291072" y="1554480"/>
            <a:ext cx="5349240" cy="43891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91440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Option A</a:t>
            </a:r>
            <a:endParaRPr lang="en-US" sz="2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914400" y="2560320"/>
            <a:ext cx="461772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spcAft>
                <a:spcPts val="1200"/>
              </a:spcAft>
              <a:buSzPct val="100000"/>
              <a:buChar char="•"/>
              <a:defRPr lang="en-US" sz="1600" dirty="0">
                <a:solidFill>
                  <a:schemeClr val="tx1"/>
                </a:solidFill>
              </a:defRPr>
            </a:lvl1pPr>
          </a:lstStyle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Point</a:t>
            </a:r>
            <a:endParaRPr lang="en-US" sz="16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6656832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Option B</a:t>
            </a:r>
            <a:endParaRPr lang="en-US" sz="20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6656832" y="2560320"/>
            <a:ext cx="461772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342900" indent="-342900">
              <a:spcAft>
                <a:spcPts val="1200"/>
              </a:spcAft>
              <a:buSzPct val="100000"/>
              <a:buChar char="•"/>
              <a:defRPr lang="en-US" sz="1600" dirty="0">
                <a:solidFill>
                  <a:schemeClr val="bg1"/>
                </a:solidFill>
              </a:defRPr>
            </a:lvl1pPr>
          </a:lstStyle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Point</a:t>
            </a:r>
            <a:endParaRPr lang="en-US" sz="1600" dirty="0"/>
          </a:p>
        </p:txBody>
      </p:sp>
      <p:sp>
        <p:nvSpPr>
          <p:cNvPr id="9" name="Logo mark"/>
          <p:cNvSpPr/>
          <p:nvPr/>
        </p:nvSpPr>
        <p:spPr>
          <a:xfrm>
            <a:off x="548640" y="6336792"/>
            <a:ext cx="182880" cy="182880"/>
          </a:xfrm>
          <a:prstGeom prst="roundRect">
            <a:avLst>
              <a:gd name="adj" fmla="val 22000"/>
            </a:avLst>
          </a:prstGeom>
          <a:ln w="22860">
            <a:solidFill>
              <a:schemeClr val="tx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Wordmark"/>
          <p:cNvSpPr/>
          <p:nvPr/>
        </p:nvSpPr>
        <p:spPr>
          <a:xfrm>
            <a:off x="822960" y="62727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Lathmere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72784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Product screensho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Slide title, one message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548640" y="1463040"/>
            <a:ext cx="7680960" cy="4800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accent6"/>
                </a:solidFill>
              </a:rPr>
              <a:t>Screenshot</a:t>
            </a: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641080" y="1463040"/>
            <a:ext cx="301752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1000"/>
              </a:spcAft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Caption: what the viewer should notice</a:t>
            </a:r>
            <a:endParaRPr lang="en-US" sz="1500" dirty="0"/>
          </a:p>
        </p:txBody>
      </p:sp>
      <p:sp>
        <p:nvSpPr>
          <p:cNvPr id="5" name="Wordmark"/>
          <p:cNvSpPr/>
          <p:nvPr/>
        </p:nvSpPr>
        <p:spPr>
          <a:xfrm>
            <a:off x="8641080" y="62727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Lathmere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72784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 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Slide title, one message</a:t>
            </a:r>
            <a:endParaRPr lang="en-US" sz="3200" dirty="0"/>
          </a:p>
        </p:txBody>
      </p:sp>
      <p:sp>
        <p:nvSpPr>
          <p:cNvPr id="3" name="Logo mark"/>
          <p:cNvSpPr/>
          <p:nvPr/>
        </p:nvSpPr>
        <p:spPr>
          <a:xfrm>
            <a:off x="548640" y="6336792"/>
            <a:ext cx="182880" cy="182880"/>
          </a:xfrm>
          <a:prstGeom prst="roundRect">
            <a:avLst>
              <a:gd name="adj" fmla="val 22000"/>
            </a:avLst>
          </a:prstGeom>
          <a:ln w="22860">
            <a:solidFill>
              <a:schemeClr val="tx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Wordmark"/>
          <p:cNvSpPr/>
          <p:nvPr/>
        </p:nvSpPr>
        <p:spPr>
          <a:xfrm>
            <a:off x="822960" y="62727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Lathmere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72784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Char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Slide title, one message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chart" hasCustomPrompt="1"/>
          </p:nvPr>
        </p:nvSpPr>
        <p:spPr>
          <a:xfrm>
            <a:off x="548640" y="1463040"/>
            <a:ext cx="7406640" cy="4526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accent6"/>
                </a:solidFill>
              </a:rPr>
              <a:t>Chart</a:t>
            </a:r>
            <a:endParaRPr lang="en-US" dirty="0"/>
          </a:p>
        </p:txBody>
      </p:sp>
      <p:sp>
        <p:nvSpPr>
          <p:cNvPr id="4" name="Commentary card"/>
          <p:cNvSpPr/>
          <p:nvPr/>
        </p:nvSpPr>
        <p:spPr>
          <a:xfrm>
            <a:off x="8275320" y="1463040"/>
            <a:ext cx="3364992" cy="4526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549640" y="1737360"/>
            <a:ext cx="2834640" cy="3977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1000"/>
              </a:spcAft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What the chart shows</a:t>
            </a:r>
            <a:endParaRPr lang="en-US" sz="1500" dirty="0"/>
          </a:p>
        </p:txBody>
      </p:sp>
      <p:sp>
        <p:nvSpPr>
          <p:cNvPr id="6" name="Logo mark"/>
          <p:cNvSpPr/>
          <p:nvPr/>
        </p:nvSpPr>
        <p:spPr>
          <a:xfrm>
            <a:off x="548640" y="6336792"/>
            <a:ext cx="182880" cy="182880"/>
          </a:xfrm>
          <a:prstGeom prst="roundRect">
            <a:avLst>
              <a:gd name="adj" fmla="val 22000"/>
            </a:avLst>
          </a:prstGeom>
          <a:ln w="22860">
            <a:solidFill>
              <a:schemeClr val="tx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Wordmark"/>
          <p:cNvSpPr/>
          <p:nvPr/>
        </p:nvSpPr>
        <p:spPr>
          <a:xfrm>
            <a:off x="822960" y="62727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Lathmere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72784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Tab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Slide title, one message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571500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Source or note</a:t>
            </a:r>
            <a:endParaRPr lang="en-US" sz="1100" dirty="0"/>
          </a:p>
        </p:txBody>
      </p:sp>
      <p:sp>
        <p:nvSpPr>
          <p:cNvPr id="4" name="Logo mark"/>
          <p:cNvSpPr/>
          <p:nvPr/>
        </p:nvSpPr>
        <p:spPr>
          <a:xfrm>
            <a:off x="548640" y="6336792"/>
            <a:ext cx="182880" cy="182880"/>
          </a:xfrm>
          <a:prstGeom prst="roundRect">
            <a:avLst>
              <a:gd name="adj" fmla="val 22000"/>
            </a:avLst>
          </a:prstGeom>
          <a:ln w="22860">
            <a:solidFill>
              <a:schemeClr val="tx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Wordmark"/>
          <p:cNvSpPr/>
          <p:nvPr/>
        </p:nvSpPr>
        <p:spPr>
          <a:xfrm>
            <a:off x="822960" y="62727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Lathmere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72784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Closing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square"/>
          <p:cNvSpPr/>
          <p:nvPr/>
        </p:nvSpPr>
        <p:spPr>
          <a:xfrm>
            <a:off x="8595360" y="1920240"/>
            <a:ext cx="2651760" cy="2651760"/>
          </a:xfrm>
          <a:prstGeom prst="roundRect">
            <a:avLst>
              <a:gd name="adj" fmla="val 22414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10312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Closing message</a:t>
            </a: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71323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1800" dirty="0">
                <a:solidFill>
                  <a:srgbClr val="A9ABB3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A9ABB3"/>
                </a:solidFill>
              </a:rPr>
              <a:t>Contact or next step</a:t>
            </a:r>
            <a:endParaRPr lang="en-US" sz="1800" dirty="0"/>
          </a:p>
        </p:txBody>
      </p:sp>
      <p:sp>
        <p:nvSpPr>
          <p:cNvPr id="5" name="Logo mark"/>
          <p:cNvSpPr/>
          <p:nvPr/>
        </p:nvSpPr>
        <p:spPr>
          <a:xfrm>
            <a:off x="548640" y="6336792"/>
            <a:ext cx="182880" cy="182880"/>
          </a:xfrm>
          <a:prstGeom prst="roundRect">
            <a:avLst>
              <a:gd name="adj" fmla="val 22000"/>
            </a:avLst>
          </a:prstGeom>
          <a:ln w="22860"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Wordmark"/>
          <p:cNvSpPr/>
          <p:nvPr/>
        </p:nvSpPr>
        <p:spPr>
          <a:xfrm>
            <a:off x="822960" y="62727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Lathmere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72784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A9AB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5544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AI FOR ACCOUNTS PAYABLE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0116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Paperwork in. Clean records out.</a:t>
            </a:r>
            <a:endParaRPr lang="en-US" sz="48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41148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9ABB3"/>
                </a:solidFill>
              </a:rPr>
              <a:t>Template sample for Lathmere, a concept brand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651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Agenda</a:t>
            </a:r>
            <a:endParaRPr lang="en-US" sz="4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754880" y="146304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chemeClr val="tx1"/>
                </a:solidFill>
              </a:rPr>
              <a:t>Why invoice matching stalls the close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chemeClr val="tx1"/>
                </a:solidFill>
              </a:rPr>
              <a:t>How Lathmere reads and matches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chemeClr val="tx1"/>
                </a:solidFill>
              </a:rPr>
              <a:t>What your team still controls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chemeClr val="tx1"/>
                </a:solidFill>
              </a:rPr>
              <a:t>Pilot plan and next step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72784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371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01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9260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Why matching stalls the close</a:t>
            </a:r>
            <a:endParaRPr lang="en-US" sz="4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9ABB3"/>
                </a:solidFill>
              </a:rPr>
              <a:t>Three documents, three formats, one ledger entry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72784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A9AB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Your team reviews exceptions, not every invoice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6002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Lathmere reads invoices, purchase orders and delivery notes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It checks that all three agree before anything posts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Only mismatches reach a person, with the reason attached</a:t>
            </a:r>
            <a:endParaRPr lang="en-US" sz="1800" dirty="0"/>
          </a:p>
        </p:txBody>
      </p:sp>
      <p:pic>
        <p:nvPicPr>
          <p:cNvPr id="4" name="Image 0" descr="Lathmere concept site on a phone, invoice demo">    </p:cNvPr>
          <p:cNvPicPr>
            <a:picLocks noChangeAspect="1"/>
          </p:cNvPicPr>
          <p:nvPr>
            <p:ph idx="102" hasCustomPrompt="1"/>
          </p:nvPr>
        </p:nvPicPr>
        <p:blipFill>
          <a:blip r:embed="rId1"/>
          <a:srcRect l="0" r="0" t="0" b="0"/>
          <a:stretch/>
        </p:blipFill>
        <p:spPr>
          <a:xfrm>
            <a:off x="7178040" y="1463040"/>
            <a:ext cx="4480560" cy="45262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72784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One invoice, four steps</a:t>
            </a:r>
            <a:endParaRPr lang="en-US" sz="3200" dirty="0"/>
          </a:p>
        </p:txBody>
      </p:sp>
      <p:sp>
        <p:nvSpPr>
          <p:cNvPr id="3" name="Connector 1"/>
          <p:cNvSpPr/>
          <p:nvPr/>
        </p:nvSpPr>
        <p:spPr>
          <a:xfrm>
            <a:off x="1554480" y="2423160"/>
            <a:ext cx="176479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" name="Step 1 marker"/>
          <p:cNvSpPr/>
          <p:nvPr/>
        </p:nvSpPr>
        <p:spPr>
          <a:xfrm>
            <a:off x="548640" y="1965960"/>
            <a:ext cx="914400" cy="914400"/>
          </a:xfrm>
          <a:prstGeom prst="roundRect">
            <a:avLst>
              <a:gd name="adj" fmla="val 22000"/>
            </a:avLst>
          </a:prstGeom>
          <a:ln w="38100">
            <a:solidFill>
              <a:schemeClr val="tx1"/>
            </a:solidFill>
            <a:prstDash val="solid"/>
          </a:ln>
        </p:spPr>
      </p:sp>
      <p:sp>
        <p:nvSpPr>
          <p:cNvPr id="5" name="Step 1 number"/>
          <p:cNvSpPr txBox="1"/>
          <p:nvPr/>
        </p:nvSpPr>
        <p:spPr>
          <a:xfrm>
            <a:off x="54864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Step 1 label"/>
          <p:cNvSpPr txBox="1"/>
          <p:nvPr/>
        </p:nvSpPr>
        <p:spPr>
          <a:xfrm>
            <a:off x="548640" y="3154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Receive</a:t>
            </a:r>
            <a:endParaRPr lang="en-US" sz="2200" dirty="0"/>
          </a:p>
        </p:txBody>
      </p:sp>
      <p:sp>
        <p:nvSpPr>
          <p:cNvPr id="7" name="Step 1 detail"/>
          <p:cNvSpPr txBox="1"/>
          <p:nvPr/>
        </p:nvSpPr>
        <p:spPr>
          <a:xfrm>
            <a:off x="548640" y="3657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PDF, scan, photo or spreadsheet arrives</a:t>
            </a:r>
            <a:endParaRPr lang="en-US" sz="1500" dirty="0"/>
          </a:p>
        </p:txBody>
      </p:sp>
      <p:sp>
        <p:nvSpPr>
          <p:cNvPr id="8" name="Connector 2"/>
          <p:cNvSpPr/>
          <p:nvPr/>
        </p:nvSpPr>
        <p:spPr>
          <a:xfrm>
            <a:off x="4416552" y="2423160"/>
            <a:ext cx="176479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Step 2 marker"/>
          <p:cNvSpPr/>
          <p:nvPr/>
        </p:nvSpPr>
        <p:spPr>
          <a:xfrm>
            <a:off x="3410712" y="1965960"/>
            <a:ext cx="914400" cy="914400"/>
          </a:xfrm>
          <a:prstGeom prst="roundRect">
            <a:avLst>
              <a:gd name="adj" fmla="val 22000"/>
            </a:avLst>
          </a:prstGeom>
          <a:ln w="38100">
            <a:solidFill>
              <a:schemeClr val="tx1"/>
            </a:solidFill>
            <a:prstDash val="solid"/>
          </a:ln>
        </p:spPr>
      </p:sp>
      <p:sp>
        <p:nvSpPr>
          <p:cNvPr id="10" name="Step 2 number"/>
          <p:cNvSpPr txBox="1"/>
          <p:nvPr/>
        </p:nvSpPr>
        <p:spPr>
          <a:xfrm>
            <a:off x="3410712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</a:t>
            </a:r>
            <a:endParaRPr lang="en-US" sz="2800" dirty="0"/>
          </a:p>
        </p:txBody>
      </p:sp>
      <p:sp>
        <p:nvSpPr>
          <p:cNvPr id="11" name="Step 2 label"/>
          <p:cNvSpPr txBox="1"/>
          <p:nvPr/>
        </p:nvSpPr>
        <p:spPr>
          <a:xfrm>
            <a:off x="3410712" y="3154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Read</a:t>
            </a:r>
            <a:endParaRPr lang="en-US" sz="2200" dirty="0"/>
          </a:p>
        </p:txBody>
      </p:sp>
      <p:sp>
        <p:nvSpPr>
          <p:cNvPr id="12" name="Step 2 detail"/>
          <p:cNvSpPr txBox="1"/>
          <p:nvPr/>
        </p:nvSpPr>
        <p:spPr>
          <a:xfrm>
            <a:off x="3410712" y="3657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Fields pulled from the page</a:t>
            </a:r>
            <a:endParaRPr lang="en-US" sz="1500" dirty="0"/>
          </a:p>
        </p:txBody>
      </p:sp>
      <p:sp>
        <p:nvSpPr>
          <p:cNvPr id="13" name="Connector 3"/>
          <p:cNvSpPr/>
          <p:nvPr/>
        </p:nvSpPr>
        <p:spPr>
          <a:xfrm>
            <a:off x="7278624" y="2423160"/>
            <a:ext cx="176479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4" name="Step 3 marker"/>
          <p:cNvSpPr/>
          <p:nvPr/>
        </p:nvSpPr>
        <p:spPr>
          <a:xfrm>
            <a:off x="6272784" y="1965960"/>
            <a:ext cx="914400" cy="9144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15" name="Step 3 number"/>
          <p:cNvSpPr txBox="1"/>
          <p:nvPr/>
        </p:nvSpPr>
        <p:spPr>
          <a:xfrm>
            <a:off x="6272784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3</a:t>
            </a:r>
            <a:endParaRPr lang="en-US" sz="2800" dirty="0"/>
          </a:p>
        </p:txBody>
      </p:sp>
      <p:sp>
        <p:nvSpPr>
          <p:cNvPr id="16" name="Step 3 label"/>
          <p:cNvSpPr txBox="1"/>
          <p:nvPr/>
        </p:nvSpPr>
        <p:spPr>
          <a:xfrm>
            <a:off x="6272784" y="3154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Match</a:t>
            </a:r>
            <a:endParaRPr lang="en-US" sz="2200" dirty="0"/>
          </a:p>
        </p:txBody>
      </p:sp>
      <p:sp>
        <p:nvSpPr>
          <p:cNvPr id="17" name="Step 3 detail"/>
          <p:cNvSpPr txBox="1"/>
          <p:nvPr/>
        </p:nvSpPr>
        <p:spPr>
          <a:xfrm>
            <a:off x="6272784" y="3657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Checked against PO and delivery note</a:t>
            </a:r>
            <a:endParaRPr lang="en-US" sz="1500" dirty="0"/>
          </a:p>
        </p:txBody>
      </p:sp>
      <p:sp>
        <p:nvSpPr>
          <p:cNvPr id="18" name="Step 4 marker"/>
          <p:cNvSpPr/>
          <p:nvPr/>
        </p:nvSpPr>
        <p:spPr>
          <a:xfrm>
            <a:off x="9134856" y="1965960"/>
            <a:ext cx="914400" cy="914400"/>
          </a:xfrm>
          <a:prstGeom prst="roundRect">
            <a:avLst>
              <a:gd name="adj" fmla="val 22000"/>
            </a:avLst>
          </a:prstGeom>
          <a:ln w="38100">
            <a:solidFill>
              <a:schemeClr val="tx1"/>
            </a:solidFill>
            <a:prstDash val="solid"/>
          </a:ln>
        </p:spPr>
      </p:sp>
      <p:sp>
        <p:nvSpPr>
          <p:cNvPr id="19" name="Step 4 number"/>
          <p:cNvSpPr txBox="1"/>
          <p:nvPr/>
        </p:nvSpPr>
        <p:spPr>
          <a:xfrm>
            <a:off x="9134856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</a:t>
            </a:r>
            <a:endParaRPr lang="en-US" sz="2800" dirty="0"/>
          </a:p>
        </p:txBody>
      </p:sp>
      <p:sp>
        <p:nvSpPr>
          <p:cNvPr id="20" name="Step 4 label"/>
          <p:cNvSpPr txBox="1"/>
          <p:nvPr/>
        </p:nvSpPr>
        <p:spPr>
          <a:xfrm>
            <a:off x="9134856" y="3154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Write</a:t>
            </a:r>
            <a:endParaRPr lang="en-US" sz="2200" dirty="0"/>
          </a:p>
        </p:txBody>
      </p:sp>
      <p:sp>
        <p:nvSpPr>
          <p:cNvPr id="21" name="Step 4 detail"/>
          <p:cNvSpPr txBox="1"/>
          <p:nvPr/>
        </p:nvSpPr>
        <p:spPr>
          <a:xfrm>
            <a:off x="9134856" y="3657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Posted to the ledger with GL codes</a:t>
            </a:r>
            <a:endParaRPr lang="en-US" sz="1500" dirty="0"/>
          </a:p>
        </p:txBody>
      </p:sp>
      <p:sp>
        <p:nvSpPr>
          <p:cNvPr id="22" name="Legend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Lime marks the step where a person may need to act.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72784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Before and after Lathmere</a:t>
            </a:r>
            <a:endParaRPr lang="en-US" sz="32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914400" y="18745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Today</a:t>
            </a:r>
            <a:endParaRPr lang="en-US" sz="2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914400" y="256032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Fields keyed by hand from PDFs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Missing delivery notes chased by email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Mismatches found after posting</a:t>
            </a:r>
            <a:endParaRPr lang="en-US" sz="16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6656832" y="18745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With Lathmere</a:t>
            </a:r>
            <a:endParaRPr lang="en-US" sz="2000" dirty="0"/>
          </a:p>
        </p:txBody>
      </p:sp>
      <p:sp>
        <p:nvSpPr>
          <p:cNvPr id="6" name="Text 2"/>
          <p:cNvSpPr/>
          <p:nvPr>
            <p:ph idx="106" type="body" hasCustomPrompt="1"/>
          </p:nvPr>
        </p:nvSpPr>
        <p:spPr>
          <a:xfrm>
            <a:off x="6656832" y="256032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Fields read and checked on arrival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Missing documents flagged per invoice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Mismatches held before they post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72784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See the reason behind every flag</a:t>
            </a:r>
            <a:endParaRPr lang="en-US" sz="3200" dirty="0"/>
          </a:p>
        </p:txBody>
      </p:sp>
      <p:pic>
        <p:nvPicPr>
          <p:cNvPr id="3" name="Image 0" descr="Lathmere concept site, invoice read into a ledger record">    </p:cNvPr>
          <p:cNvPicPr>
            <a:picLocks noChangeAspect="1"/>
          </p:cNvPicPr>
          <p:nvPr>
            <p:ph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548640" y="1463040"/>
            <a:ext cx="7680960" cy="48006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8641080" y="1463040"/>
            <a:ext cx="30175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Each field lights up on the invoice, then drops into the ledger record.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Screenshot from the Lathmere concept site. Supplier and numbers are made up.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72784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Exceptions fall as vendor rules mature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>
            <p:ph idx="101" type="chart" hasCustomPrompt="1"/>
          </p:nvPr>
        </p:nvGraphicFramePr>
        <p:xfrm>
          <a:off x="548640" y="1463040"/>
          <a:ext cx="740664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>
            <p:ph idx="103" type="body" hasCustomPrompt="1"/>
          </p:nvPr>
        </p:nvSpPr>
        <p:spPr>
          <a:xfrm>
            <a:off x="8549640" y="1737360"/>
            <a:ext cx="28346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Sample data for layout demo only.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chart is native PowerPoint. Right click, Edit Data, and the bars, labels and colours update from the theme.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72784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Four-week pilot plan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931920"/>
                <a:gridCol w="2560320"/>
                <a:gridCol w="3504895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 inbox and ERP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 ops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document feed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vendor matching rules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 lead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 list signed off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alongside the current process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 team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Side-by-side report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live on two entities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Controller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or no-go decision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5715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Example plan for the template. Rows and columns stay fully editable.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72784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1031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Start with one vendor, one month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74904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A9ABB3"/>
                </a:solidFill>
              </a:rPr>
              <a:t>Questions and next step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9ABB3"/>
                </a:solidFill>
              </a:rPr>
              <a:t>Template concept by Sabin Mainali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thmere">
  <a:themeElements>
    <a:clrScheme name="Lathmere">
      <a:dk1>
        <a:srgbClr val="16171B"/>
      </a:dk1>
      <a:lt1>
        <a:srgbClr val="FFFFFF"/>
      </a:lt1>
      <a:dk2>
        <a:srgbClr val="121419"/>
      </a:dk2>
      <a:lt2>
        <a:srgbClr val="F4F2EC"/>
      </a:lt2>
      <a:accent1>
        <a:srgbClr val="C8F560"/>
      </a:accent1>
      <a:accent2>
        <a:srgbClr val="9A8CFF"/>
      </a:accent2>
      <a:accent3>
        <a:srgbClr val="66E0FF"/>
      </a:accent3>
      <a:accent4>
        <a:srgbClr val="FFB86B"/>
      </a:accent4>
      <a:accent5>
        <a:srgbClr val="7BD88F"/>
      </a:accent5>
      <a:accent6>
        <a:srgbClr val="6B6D75"/>
      </a:accent6>
      <a:hlink>
        <a:srgbClr val="4B4FD6"/>
      </a:hlink>
      <a:folHlink>
        <a:srgbClr val="6B6D75"/>
      </a:folHlink>
    </a:clrScheme>
    <a:fontScheme name="Lathmer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Lathmere (concept)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Lathmere presentation template (sample)</dc:title>
  <dc:subject>PptxGenJS Presentation</dc:subject>
  <dc:creator>Sabin Mainali</dc:creator>
  <cp:lastModifiedBy>Sabin Mainali</cp:lastModifiedBy>
  <cp:revision>1</cp:revision>
  <dcterms:created xsi:type="dcterms:W3CDTF">2026-10-06T10:08:32Z</dcterms:created>
  <dcterms:modified xsi:type="dcterms:W3CDTF">2026-10-06T10:08:32Z</dcterms:modified>
</cp:coreProperties>
</file>